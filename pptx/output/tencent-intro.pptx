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9070848" y="0"/>
            <a:ext cx="73152" cy="22860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Tencent Holdings Ltd.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22860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606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Everything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Founded 1998  |  Shenzhen, China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SEHK: 00700  |  Global Tech Ecosystem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EF233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Snapshot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Tencent Holdings Ltd.  |  SEHK: 00700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54864" cy="14173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5272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1998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11480" y="18013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0756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November, Shenzhen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08960" y="114300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08960" y="1143000"/>
            <a:ext cx="54864" cy="14173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125272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100K+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246120" y="18013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46120" y="20756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workforce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114300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0" y="1143000"/>
            <a:ext cx="54864" cy="14173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6080760" y="125272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$500B+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080760" y="18013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Cap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80760" y="20756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SEHK 00700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724912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724912"/>
            <a:ext cx="54864" cy="141732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2834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1.3B+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411480" y="33832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WeChat Users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11480" y="36576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Active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108960" y="2724912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08960" y="2724912"/>
            <a:ext cx="54864" cy="141732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7" name="Text 25"/>
          <p:cNvSpPr/>
          <p:nvPr/>
        </p:nvSpPr>
        <p:spPr>
          <a:xfrm>
            <a:off x="3246120" y="2834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$90B+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3246120" y="33832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Revenue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46120" y="36576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0" y="2724912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43600" y="2724912"/>
            <a:ext cx="54864" cy="141732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2" name="Text 30"/>
          <p:cNvSpPr/>
          <p:nvPr/>
        </p:nvSpPr>
        <p:spPr>
          <a:xfrm>
            <a:off x="6080760" y="2834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6080760" y="33832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080760" y="36576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presence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74320" y="4480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of the world's largest internet conglomerates — a leader in social platforms, gaming, fintech, and cloud services.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7" name="Text 3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&amp; Vision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2011680" cy="0"/>
          </a:xfrm>
          <a:prstGeom prst="line">
            <a:avLst/>
          </a:prstGeom>
          <a:noFill/>
          <a:ln w="25400">
            <a:solidFill>
              <a:srgbClr val="EF23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8412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73152" cy="15544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build a global ecosystem that bridges technology, content, and users worldwide — empowering individuals and businesses to connect, communicate, and thrive in the digital age.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" y="2743200"/>
            <a:ext cx="8412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743200"/>
            <a:ext cx="73152" cy="155448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8346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1546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become the most respected internet enterprise globally by continuously innovating and delivering value through superior technology, content, and user experiences across every connected device and platform.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0040" y="4480560"/>
            <a:ext cx="1609344" cy="384048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4480560"/>
            <a:ext cx="1609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20824" y="4480560"/>
            <a:ext cx="1609344" cy="384048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6" name="Text 14"/>
          <p:cNvSpPr/>
          <p:nvPr/>
        </p:nvSpPr>
        <p:spPr>
          <a:xfrm>
            <a:off x="2020824" y="4480560"/>
            <a:ext cx="1609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User-Centric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21608" y="4480560"/>
            <a:ext cx="1609344" cy="384048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8" name="Text 16"/>
          <p:cNvSpPr/>
          <p:nvPr/>
        </p:nvSpPr>
        <p:spPr>
          <a:xfrm>
            <a:off x="3721608" y="4480560"/>
            <a:ext cx="1609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22392" y="4480560"/>
            <a:ext cx="1609344" cy="384048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0" name="Text 18"/>
          <p:cNvSpPr/>
          <p:nvPr/>
        </p:nvSpPr>
        <p:spPr>
          <a:xfrm>
            <a:off x="5422392" y="4480560"/>
            <a:ext cx="1609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123176" y="4480560"/>
            <a:ext cx="1609344" cy="384048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2" name="Text 20"/>
          <p:cNvSpPr/>
          <p:nvPr/>
        </p:nvSpPr>
        <p:spPr>
          <a:xfrm>
            <a:off x="7123176" y="4480560"/>
            <a:ext cx="1609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Responsibility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Founding Story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7432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Small IM Startup to a Global Tech Giant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3840480" cy="12344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704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Pony Ma (Ma Huateng)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Chairman &amp; CEO — Visionary leader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Zhang Zhidong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Technology Officer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Xu Qingtai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Operating Officer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097280"/>
            <a:ext cx="0" cy="3703320"/>
          </a:xfrm>
          <a:prstGeom prst="line">
            <a:avLst/>
          </a:prstGeom>
          <a:noFill/>
          <a:ln w="25400">
            <a:solidFill>
              <a:srgbClr val="EF23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06240" y="1005840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96012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1998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20640" y="9326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Founded in Shenzhen as an instant messaging startup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06240" y="1468755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423035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1999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20640" y="1395603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QQ launched — became China's dominant IM platform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06240" y="1931670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188595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20640" y="185851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IPO on Hong Kong Stock Exchange (SEHK 00700)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06240" y="2394585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2348865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20640" y="2321433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WeChat launched — redefined mobile social networking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06240" y="2857500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4480560" y="281178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20640" y="27843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开放平台战略 — QQ空间 &amp; 游戏开放平台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06240" y="3320415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4480560" y="3274695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20640" y="3247263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WeChat Pay launched — fintech expansion accelerated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06240" y="3783330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7" name="Text 25"/>
          <p:cNvSpPr/>
          <p:nvPr/>
        </p:nvSpPr>
        <p:spPr>
          <a:xfrm>
            <a:off x="4480560" y="373761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20640" y="371017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restructuring — 6 core business groups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06240" y="4246245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0" name="Text 28"/>
          <p:cNvSpPr/>
          <p:nvPr/>
        </p:nvSpPr>
        <p:spPr>
          <a:xfrm>
            <a:off x="4480560" y="4200525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120640" y="4173093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 &amp; ESG commitment — carbon neutrality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Executives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Leadership Team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73152" cy="1188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97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Pony Ma (Ma Huateng)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Chairman &amp; CEO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 of Tencent. Led the company from a small IM startup to a global tech powerhouse. Named one of TIME's 100 most influential people.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0" y="1143000"/>
            <a:ext cx="914400" cy="34747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0" y="114300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4320" y="2304288"/>
            <a:ext cx="8595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304288"/>
            <a:ext cx="73152" cy="118872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3957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Martin Lau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" y="27157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President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299008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Joined Tencent in 2005 as CFO. Played pivotal role in IPO, M&amp;A strategy, and global expansion. instrumental in investments in Riot Games, Supercell, and Epic Games.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0" y="2441448"/>
            <a:ext cx="914400" cy="34747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0" y="244144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74320" y="3602736"/>
            <a:ext cx="8595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602736"/>
            <a:ext cx="73152" cy="11887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69417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James Mitchell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02920" y="401421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Financial Officer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4288536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Joined in 2007. Oversaw Tencent's financial strategy through its most aggressive growth phase. Previously at Goldman Sachs Asia tech practice.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72400" y="3739896"/>
            <a:ext cx="914400" cy="347472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0" y="373989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WeChat Ecosystem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Super App Connecting 1.3 Billion Lives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926080" cy="13716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972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1.3B+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274320" y="17556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Active Users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20848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World's #1 Super App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00584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005840"/>
            <a:ext cx="265176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11155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47288" y="14173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Text, Voice, Video calls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 &amp; Channels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Moments feed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005840"/>
            <a:ext cx="2651760" cy="36576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5" name="Text 13"/>
          <p:cNvSpPr/>
          <p:nvPr/>
        </p:nvSpPr>
        <p:spPr>
          <a:xfrm>
            <a:off x="6236208" y="11155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36208" y="14173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Accounts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Programs discovery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WeChat Search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915400" y="100584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915400" y="1005840"/>
            <a:ext cx="265176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9025128" y="11155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25128" y="14173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WeChat Pay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packets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payments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37560" y="2532888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37560" y="2532888"/>
            <a:ext cx="2651760" cy="36576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3" name="Text 21"/>
          <p:cNvSpPr/>
          <p:nvPr/>
        </p:nvSpPr>
        <p:spPr>
          <a:xfrm>
            <a:off x="3447288" y="264261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Programs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47288" y="294436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7M+ apps inside WeChat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400M+ DAU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experience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2532888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2532888"/>
            <a:ext cx="265176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7" name="Text 25"/>
          <p:cNvSpPr/>
          <p:nvPr/>
        </p:nvSpPr>
        <p:spPr>
          <a:xfrm>
            <a:off x="6236208" y="264261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36208" y="294436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services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booking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services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915400" y="2532888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915400" y="2532888"/>
            <a:ext cx="2651760" cy="36576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1" name="Text 29"/>
          <p:cNvSpPr/>
          <p:nvPr/>
        </p:nvSpPr>
        <p:spPr>
          <a:xfrm>
            <a:off x="9025128" y="264261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025128" y="294436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WeChat Video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streaming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 &amp; Articles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74320" y="4434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Launched 2011 | Available in 20+ languages | Active in 200+ countries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286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Programs Platform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微信小程序  |  An App Ecosystem Within WeChat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011680" cy="9601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789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7M+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15819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Programs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051560"/>
            <a:ext cx="2011680" cy="9601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10789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400M+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68880" y="15819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Active Users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1051560"/>
            <a:ext cx="2011680" cy="9601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10789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1T+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17720" y="15819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Transactions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6560" y="1051560"/>
            <a:ext cx="2011680" cy="9601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10789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400K+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766560" y="15819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212848"/>
            <a:ext cx="85039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2212848"/>
            <a:ext cx="45720" cy="34747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2128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&amp; E-commerce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17520" y="22128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JD.com, Pinduoduo, Nike, Starbucks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223760" y="22128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600M+ users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2596896"/>
            <a:ext cx="8503920" cy="34747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3" name="Shape 21"/>
          <p:cNvSpPr/>
          <p:nvPr/>
        </p:nvSpPr>
        <p:spPr>
          <a:xfrm>
            <a:off x="320040" y="2596896"/>
            <a:ext cx="45720" cy="34747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59689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&amp; Delivery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017520" y="259689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Meituan, Ele.me, Luckin Coffee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23760" y="259689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500M+ users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2980944"/>
            <a:ext cx="85039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320040" y="2980944"/>
            <a:ext cx="45720" cy="34747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298094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017520" y="298094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Didi, Metro apps, Parking, Toll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23760" y="298094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400M+ users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3364992"/>
            <a:ext cx="8503920" cy="34747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3" name="Shape 31"/>
          <p:cNvSpPr/>
          <p:nvPr/>
        </p:nvSpPr>
        <p:spPr>
          <a:xfrm>
            <a:off x="320040" y="3364992"/>
            <a:ext cx="45720" cy="34747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3649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017520" y="33649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Appointments, Insurance, Pharmacy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223760" y="33649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300M+ users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3749040"/>
            <a:ext cx="85039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320040" y="3749040"/>
            <a:ext cx="45720" cy="34747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37490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&amp; Banking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017520" y="37490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WeBank, Insurance, Stock trading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223760" y="37490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200M+ users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0040" y="4133088"/>
            <a:ext cx="8503920" cy="34747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3" name="Shape 41"/>
          <p:cNvSpPr/>
          <p:nvPr/>
        </p:nvSpPr>
        <p:spPr>
          <a:xfrm>
            <a:off x="320040" y="4133088"/>
            <a:ext cx="45720" cy="34747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41330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Services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017520" y="413308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codes, ID, Permits, Tax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223760" y="41330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1B+ uses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48" name="Text 4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QQ &amp; Other Social Platforms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Diversified Social Ecosystem Beyond WeChat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36118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05840"/>
            <a:ext cx="41148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430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QQ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16276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Messaging Pioneer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500M+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46888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Registered Users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560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600M+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46888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Active Users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1999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468880" y="3108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Launched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468880" y="3657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Feed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160520"/>
            <a:ext cx="694944" cy="3200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160520"/>
            <a:ext cx="694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QQ Pay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207008" y="4160520"/>
            <a:ext cx="694944" cy="3200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0" name="Text 18"/>
          <p:cNvSpPr/>
          <p:nvPr/>
        </p:nvSpPr>
        <p:spPr>
          <a:xfrm>
            <a:off x="1207008" y="4160520"/>
            <a:ext cx="694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QQ Mail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956816" y="4160520"/>
            <a:ext cx="694944" cy="3200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1956816" y="4160520"/>
            <a:ext cx="694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QQ Music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06624" y="4160520"/>
            <a:ext cx="694944" cy="3200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2706624" y="4160520"/>
            <a:ext cx="694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QQ Video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456432" y="4160520"/>
            <a:ext cx="694944" cy="3200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6" name="Text 24"/>
          <p:cNvSpPr/>
          <p:nvPr/>
        </p:nvSpPr>
        <p:spPr>
          <a:xfrm>
            <a:off x="3456432" y="4160520"/>
            <a:ext cx="694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QQ Space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0" y="1005840"/>
            <a:ext cx="42976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0" y="1005840"/>
            <a:ext cx="54864" cy="80467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10789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QQ International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54880" y="13533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in English, Korean, Japanese and more. Strong presence in Southeast Asia, India and Brazil.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772400" y="10789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80+ countries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0" y="1883664"/>
            <a:ext cx="42976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0" y="1883664"/>
            <a:ext cx="54864" cy="80467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19568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 (Tencent Interaction Messenger)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754880" y="223113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Enterprise-focused IM built for办公场景. Supports文档协作, cloud storage, and calendar integration.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772400" y="19568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Focus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0" y="2761488"/>
            <a:ext cx="42976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72000" y="2761488"/>
            <a:ext cx="54864" cy="80467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9" name="Text 37"/>
          <p:cNvSpPr/>
          <p:nvPr/>
        </p:nvSpPr>
        <p:spPr>
          <a:xfrm>
            <a:off x="4754880" y="2834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WeChat Work (WeCom)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754880" y="3108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communication &amp; collaboration platform. Serves 5M+ businesses with CRM and marketing tools.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772400" y="2834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5M+ businesses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0" y="3639312"/>
            <a:ext cx="42976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572000" y="3639312"/>
            <a:ext cx="54864" cy="80467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44" name="Text 42"/>
          <p:cNvSpPr/>
          <p:nvPr/>
        </p:nvSpPr>
        <p:spPr>
          <a:xfrm>
            <a:off x="4754880" y="37124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QQ Speed (KartRider)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754880" y="398678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Casual gaming platform within QQ ecosystem. Racing games, casual social games with 100M+ users.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772400" y="37124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100M+ gamers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48" name="Text 4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Gaming Empire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World's Largest Gaming Company by Revenue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18288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972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$35B+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7432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Gaming Revenue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2402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944368"/>
            <a:ext cx="859536" cy="7315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2971800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74320" y="3364992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Ranking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188720" y="2944368"/>
            <a:ext cx="859536" cy="73152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2971800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3364992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Studios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103120" y="2944368"/>
            <a:ext cx="859536" cy="7315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2103120" y="2971800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103120" y="3364992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AAA Titles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0" y="1005840"/>
            <a:ext cx="56692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3200400" y="1005840"/>
            <a:ext cx="45720" cy="47548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0" name="Text 18"/>
          <p:cNvSpPr/>
          <p:nvPr/>
        </p:nvSpPr>
        <p:spPr>
          <a:xfrm>
            <a:off x="3337560" y="106070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 Studios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37560" y="12618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Honor of Kings, PUBG Mobile, Drift Racing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955280" y="10607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955280" y="126187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00400" y="1554480"/>
            <a:ext cx="5669280" cy="47548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0" y="1554480"/>
            <a:ext cx="45720" cy="47548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6" name="Text 24"/>
          <p:cNvSpPr/>
          <p:nvPr/>
        </p:nvSpPr>
        <p:spPr>
          <a:xfrm>
            <a:off x="3337560" y="160934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Riot Games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37560" y="18105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League of Legends, Valorant, Teamfight Tactics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955280" y="16093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955280" y="18105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00400" y="2103120"/>
            <a:ext cx="56692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3200400" y="2103120"/>
            <a:ext cx="45720" cy="475488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2" name="Text 30"/>
          <p:cNvSpPr/>
          <p:nvPr/>
        </p:nvSpPr>
        <p:spPr>
          <a:xfrm>
            <a:off x="3337560" y="215798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Supercell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37560" y="235915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Clash of Clans, Brawl Stars, Clash Royale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955280" y="215798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955280" y="23591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200400" y="2651760"/>
            <a:ext cx="5669280" cy="47548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7" name="Shape 35"/>
          <p:cNvSpPr/>
          <p:nvPr/>
        </p:nvSpPr>
        <p:spPr>
          <a:xfrm>
            <a:off x="3200400" y="2651760"/>
            <a:ext cx="45720" cy="475488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8" name="Text 36"/>
          <p:cNvSpPr/>
          <p:nvPr/>
        </p:nvSpPr>
        <p:spPr>
          <a:xfrm>
            <a:off x="3337560" y="270662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Lightspeed &amp; Quantum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337560" y="29077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PUBG Mobile (Dev), Gaming Innovation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955280" y="270662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955280" y="290779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200400" y="3200400"/>
            <a:ext cx="56692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3200400" y="3200400"/>
            <a:ext cx="45720" cy="475488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44" name="Text 42"/>
          <p:cNvSpPr/>
          <p:nvPr/>
        </p:nvSpPr>
        <p:spPr>
          <a:xfrm>
            <a:off x="3337560" y="325526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Funcom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337560" y="34564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Conan Exiles, Metal: Hellsinger, Dune Awakening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955280" y="325526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955280" y="345643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200400" y="3749040"/>
            <a:ext cx="5669280" cy="47548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9" name="Shape 47"/>
          <p:cNvSpPr/>
          <p:nvPr/>
        </p:nvSpPr>
        <p:spPr>
          <a:xfrm>
            <a:off x="3200400" y="3749040"/>
            <a:ext cx="45720" cy="475488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50" name="Text 48"/>
          <p:cNvSpPr/>
          <p:nvPr/>
        </p:nvSpPr>
        <p:spPr>
          <a:xfrm>
            <a:off x="3337560" y="380390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Investments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337560" y="40050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Epic Games (40%), Ubisoft (minority), and more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955280" y="38039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Various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955280" y="400507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74320" y="446227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Tencent controls ~50% of global gaming market through wholly-owned studios and strategic investments.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56" name="Text 5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Game Titles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Blockbuster Portfolio Across All Genres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05740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0574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143000"/>
            <a:ext cx="822960" cy="2286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430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144475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Honor of Kings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81051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 Studios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01168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&amp; Southeast Asia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221284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1B+ downloads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68880" y="1005840"/>
            <a:ext cx="205740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68880" y="1005840"/>
            <a:ext cx="2057400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5" name="Shape 13"/>
          <p:cNvSpPr/>
          <p:nvPr/>
        </p:nvSpPr>
        <p:spPr>
          <a:xfrm>
            <a:off x="2560320" y="1143000"/>
            <a:ext cx="822960" cy="2286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6" name="Text 14"/>
          <p:cNvSpPr/>
          <p:nvPr/>
        </p:nvSpPr>
        <p:spPr>
          <a:xfrm>
            <a:off x="2560320" y="11430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560320" y="144475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League of Legends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60320" y="181051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Riot Games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60320" y="201168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60320" y="221284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180M+ MAU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1005840"/>
            <a:ext cx="205740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005840"/>
            <a:ext cx="20574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0" y="1143000"/>
            <a:ext cx="822960" cy="2286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11430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Tactical Shooter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54880" y="144475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Valorant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0" y="181051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Riot Games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54880" y="201168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0" y="221284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25M+ MAU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58000" y="1005840"/>
            <a:ext cx="205740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858000" y="1005840"/>
            <a:ext cx="2057400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1" name="Shape 29"/>
          <p:cNvSpPr/>
          <p:nvPr/>
        </p:nvSpPr>
        <p:spPr>
          <a:xfrm>
            <a:off x="6949440" y="1143000"/>
            <a:ext cx="822960" cy="2286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2" name="Text 30"/>
          <p:cNvSpPr/>
          <p:nvPr/>
        </p:nvSpPr>
        <p:spPr>
          <a:xfrm>
            <a:off x="6949440" y="11430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Battle Royale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949440" y="144475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PUBG Mobile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49440" y="181051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Lightspeed &amp; Quantum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949440" y="201168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(ex-China)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49440" y="221284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1B+ downloads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2697480"/>
            <a:ext cx="205740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74320" y="2697480"/>
            <a:ext cx="20574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9" name="Shape 37"/>
          <p:cNvSpPr/>
          <p:nvPr/>
        </p:nvSpPr>
        <p:spPr>
          <a:xfrm>
            <a:off x="365760" y="2834640"/>
            <a:ext cx="822960" cy="2286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28346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Battle Royale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65760" y="313639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Peacekeeper Elite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65760" y="350215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 Studios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65760" y="370332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65760" y="390448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grossing CN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468880" y="2697480"/>
            <a:ext cx="205740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468880" y="2697480"/>
            <a:ext cx="2057400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47" name="Shape 45"/>
          <p:cNvSpPr/>
          <p:nvPr/>
        </p:nvSpPr>
        <p:spPr>
          <a:xfrm>
            <a:off x="2560320" y="2834640"/>
            <a:ext cx="822960" cy="2286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8" name="Text 46"/>
          <p:cNvSpPr/>
          <p:nvPr/>
        </p:nvSpPr>
        <p:spPr>
          <a:xfrm>
            <a:off x="2560320" y="28346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World RPG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560320" y="313639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Genshin Impact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2560320" y="350215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miHoYo (40% stake)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560320" y="370332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560320" y="390448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$5B+ revenue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663440" y="2697480"/>
            <a:ext cx="205740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663440" y="2697480"/>
            <a:ext cx="20574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5" name="Shape 53"/>
          <p:cNvSpPr/>
          <p:nvPr/>
        </p:nvSpPr>
        <p:spPr>
          <a:xfrm>
            <a:off x="4754880" y="2834640"/>
            <a:ext cx="822960" cy="2286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56" name="Text 54"/>
          <p:cNvSpPr/>
          <p:nvPr/>
        </p:nvSpPr>
        <p:spPr>
          <a:xfrm>
            <a:off x="4754880" y="28346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Arena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754880" y="313639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Brawl Stars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4754880" y="350215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Supercell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754880" y="370332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754880" y="390448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200M+ downloads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858000" y="2697480"/>
            <a:ext cx="205740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858000" y="2697480"/>
            <a:ext cx="2057400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63" name="Shape 61"/>
          <p:cNvSpPr/>
          <p:nvPr/>
        </p:nvSpPr>
        <p:spPr>
          <a:xfrm>
            <a:off x="6949440" y="2834640"/>
            <a:ext cx="822960" cy="2286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64" name="Text 62"/>
          <p:cNvSpPr/>
          <p:nvPr/>
        </p:nvSpPr>
        <p:spPr>
          <a:xfrm>
            <a:off x="6949440" y="28346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949440" y="313639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Clash of Clans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6949440" y="350215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Supercell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6949440" y="370332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949440" y="390448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$10B+ lifetime revenue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0" name="Text 6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 Studios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Game Developer in the World | A Tencent Subsidiary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73152" cy="7772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789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 Aurora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38988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Honor of Kings (王者荣耀), Story of Yanxi Palace, Agatat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0" y="1115568"/>
            <a:ext cx="1371600" cy="256032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0" y="11155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Shanghai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406640" y="11155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10,000+ developers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1874520"/>
            <a:ext cx="85039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874520"/>
            <a:ext cx="73152" cy="77724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9476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 Moonton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225856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Legends: Bang Bang (MLBB), Heroes of Neywee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0" y="1984248"/>
            <a:ext cx="1371600" cy="256032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19842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Shanghai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406640" y="19842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2,000+ developers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743200"/>
            <a:ext cx="85039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743200"/>
            <a:ext cx="73152" cy="7772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8163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 Fire (Lightstorm)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2920" y="312724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Honor of Kings international, PUBG Mobile Global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43600" y="2852928"/>
            <a:ext cx="1371600" cy="256032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0" y="28529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Angeles / Shenzhen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406640" y="28529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3,000+ developers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3611880"/>
            <a:ext cx="85039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611880"/>
            <a:ext cx="73152" cy="77724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6850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 J3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02920" y="399592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Peacekeeper Elite, Game For Peace, Tencent's AAA titles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943600" y="3721608"/>
            <a:ext cx="1371600" cy="256032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0" y="37216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Shenzhen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406640" y="37216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5,000+ developers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" y="4526280"/>
            <a:ext cx="8503920" cy="347472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" y="45262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20,000+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20040" y="4727448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Employees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020824" y="45262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020824" y="4727448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Sub-brands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721608" y="45262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$10B+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721608" y="4727448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Revenue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422392" y="45262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422392" y="4727448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Dev Ranking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123176" y="45262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2010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123176" y="4727448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Founded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45" name="Text 4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Fintech &amp; Payments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WeChat Pay &amp; TenPay — Powering Digital Finance for 1B+ Users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834640" cy="35204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972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1B+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Transactions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(peak)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79222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400M+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215798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WeChat Pay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4871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11480" y="285292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 with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WeChat Pay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31821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11480" y="354787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Payment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CN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87705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RMB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11480" y="424281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Yuan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Partner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1005840"/>
            <a:ext cx="55778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1005840"/>
            <a:ext cx="557784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3429000" y="10972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WeChat Pay (微信支付)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29000" y="1389888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 payments, in-app purchases, red packets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into WeChat ecosystem (Messages, Mini Programs, Official Accounts)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Cross-border payments in 25+ countries (Hong Kong, Japan, Korea, Thailand, etc.)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18 currencies, Alipay interoperability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91840" y="2194560"/>
            <a:ext cx="55778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2194560"/>
            <a:ext cx="5577840" cy="4572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22860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TenPay (财付通)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29000" y="2578608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payment infrastructure for QQ, QQ Games, and third-party platforms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banking, mobile top-ups, insurance payments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Tencent's first payment platform — launched 2005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Processed 1B+ daily transactions at peak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91840" y="3383280"/>
            <a:ext cx="55778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3383280"/>
            <a:ext cx="557784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6" name="Text 24"/>
          <p:cNvSpPr/>
          <p:nvPr/>
        </p:nvSpPr>
        <p:spPr>
          <a:xfrm>
            <a:off x="3429000" y="34747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Currency Initiatives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29000" y="3767328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in China's Digital Currency (e-CNY) pilot program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with WeChat Pay for retail and B2B trials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Exploring blockchain-based settlement systems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Fintech Services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Payments — A Complete Financial Ecosystem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06240" cy="1755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73152" cy="175564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115568"/>
            <a:ext cx="1280160" cy="256032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1556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Bank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WeBank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17830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WeBank Co., Ltd. (微众银行)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0116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China's first internet bank — joint venture with Xiaomi and others. Fully online bank serving 300M+ customers. Focus on small businesses, micro-finance, and retail banking.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542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300M+ customers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83280" y="2542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2014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005840"/>
            <a:ext cx="4206240" cy="1755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005840"/>
            <a:ext cx="73152" cy="1755648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6" name="Shape 14"/>
          <p:cNvSpPr/>
          <p:nvPr/>
        </p:nvSpPr>
        <p:spPr>
          <a:xfrm>
            <a:off x="4846320" y="1115568"/>
            <a:ext cx="1280160" cy="256032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11556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 Platform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0" y="1463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WeSure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46320" y="17830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WeSure Insurance Brokerage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46320" y="20116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 distribution platform leveraging WeChat ecosystem. Offers health, life, auto, and travel insurance. AI-powered risk assessment and claims processing.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46320" y="2542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Underwriting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0" y="2542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2016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880360"/>
            <a:ext cx="4206240" cy="1755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880360"/>
            <a:ext cx="73152" cy="175564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2990088"/>
            <a:ext cx="1280160" cy="256032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299008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3337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Tencent Insurance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57200" y="36576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Tencent Insurance Platform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38862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insurance services including medical, critical illness, pension, and enterprise insurance. Partners with 100+ insurers. WeChat Mini Program integration.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44165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Partners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83280" y="44165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2017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2880360"/>
            <a:ext cx="4206240" cy="1755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2880360"/>
            <a:ext cx="73152" cy="1755648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4" name="Shape 32"/>
          <p:cNvSpPr/>
          <p:nvPr/>
        </p:nvSpPr>
        <p:spPr>
          <a:xfrm>
            <a:off x="4846320" y="2990088"/>
            <a:ext cx="1280160" cy="256032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299008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Fintech Credit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3337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WeCash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4846320" y="36576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WeCash (微众税银)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46320" y="38862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assessment using WeChat payment data, social behavior, and transaction history. Provides credit lines to small businesses in China. Blue Book fintech award winner.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46320" y="44165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Credit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772400" y="44165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2014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42" name="Text 4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Tencent Cloud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3rd Largest Global Cloud Provider | IaaS, PaaS &amp; SaaS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560320" cy="14630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7899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20040" y="17373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Cloud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26771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IDC, Synergy 2023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063240" y="1005840"/>
            <a:ext cx="1417320" cy="14630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3063240" y="1115568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60+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063240" y="17373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 Zones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005840"/>
            <a:ext cx="1417320" cy="146304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115568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572000" y="17373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Regions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1005840"/>
            <a:ext cx="1417320" cy="14630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6080760" y="1115568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70+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080760" y="17373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 Served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589520" y="1005840"/>
            <a:ext cx="1417320" cy="146304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0" y="1115568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240+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589520" y="17373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VPN Nodes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651760"/>
            <a:ext cx="850392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" y="2651760"/>
            <a:ext cx="822960" cy="5303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2651760"/>
            <a:ext cx="822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2651760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Tencent Meeting (VooV), E-documents, Tencent SES, Enterprise WeChat, QQ Mail, WeChat Work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3246120"/>
            <a:ext cx="8503920" cy="53035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" y="3246120"/>
            <a:ext cx="822960" cy="53035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3246120"/>
            <a:ext cx="822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PaaS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80160" y="3246120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Tencent Cloud Database (TDSQL), Cloud Filestore, CDN, Video Services, AI Platform, IoT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3840480"/>
            <a:ext cx="850392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320040" y="3840480"/>
            <a:ext cx="822960" cy="530352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" y="3840480"/>
            <a:ext cx="822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IaaS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80160" y="3840480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Compute (CVM), Cloud Object Storage (COS), Virtual Private Cloud, Cloud Load Balancer, Cloud Block Storage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20040" y="44622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Differentiated by deep integration with WeChat ecosystem and gaming infrastructure — serving 500K+ enterprise customers globally.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Services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SaaS Ecosystem | Digitizing 5M+ Businesses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1755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7432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133856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Conferencing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84048" y="135331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Tencent Meeting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" y="1645920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 video conferencing with up to 300 participants. Screen sharing, recording, real-time translation, and webinar mode. Core infrastructure for remote work in China.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24231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100M+ Users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11680" y="24231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2019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1005840"/>
            <a:ext cx="2743200" cy="1755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005840"/>
            <a:ext cx="2743200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4" name="Text 12"/>
          <p:cNvSpPr/>
          <p:nvPr/>
        </p:nvSpPr>
        <p:spPr>
          <a:xfrm>
            <a:off x="3310128" y="1133856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Suite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310128" y="135331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E-documents (腾讯文档)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10128" y="1645920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Collaborative docs, spreadsheets, and presentations. Real-time co-editing, enterprise templates, WeChat/QQ integration. Competes with Tencent Docs vs. DingTalk.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10128" y="24231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180M+ Users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24231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2018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005840"/>
            <a:ext cx="2743200" cy="1755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05840"/>
            <a:ext cx="27432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6236208" y="1133856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&amp; Communication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236208" y="135331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WeChat (WeCom)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36208" y="1645920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messaging with customer management tools. S-Chat for external communication, SCRM for marketing automation. Key competitor to DingTalk and Feishu.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36208" y="24231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5M+ Businesses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863840" y="24231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2016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2880360"/>
            <a:ext cx="2743200" cy="1755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2880360"/>
            <a:ext cx="2743200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" y="3008376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Service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84048" y="322783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Tencent Cloud SES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84048" y="3520440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 secure email service with 5TB storage, AI-powered spam filtering, and seamless integration with WeCom and Tencent Meeting.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4048" y="42976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Email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011680" y="42976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2020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0" y="2880360"/>
            <a:ext cx="2743200" cy="1755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0" y="2880360"/>
            <a:ext cx="27432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5" name="Text 33"/>
          <p:cNvSpPr/>
          <p:nvPr/>
        </p:nvSpPr>
        <p:spPr>
          <a:xfrm>
            <a:off x="3310128" y="3008376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Management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310128" y="322783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Tencent IAoC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310128" y="3520440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infrastructure management, monitoring, and cost optimization. Supports multi-cloud deployment and automated scaling for enterprise workloads.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310128" y="42976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CloudOps Platform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37760" y="42976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2020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2880360"/>
            <a:ext cx="2743200" cy="1755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26480" y="2880360"/>
            <a:ext cx="2743200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42" name="Text 40"/>
          <p:cNvSpPr/>
          <p:nvPr/>
        </p:nvSpPr>
        <p:spPr>
          <a:xfrm>
            <a:off x="6236208" y="3008376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236208" y="322783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Tencent Security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236208" y="3520440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security suite including WAF, DDoS protection, Host Security (Hearth), and Mobile Security. Protects 10M+ servers globally.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36208" y="42976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DDoS Protection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863840" y="42976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2006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48" name="Text 4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Content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Music, Literature, News &amp; Live Streaming Ecosystem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3291840" cy="22860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005840"/>
            <a:ext cx="329184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43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QQ Music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音乐平台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200M+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920240" y="18288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Paying Subscribers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1762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20240" y="21762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 Platform CN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52374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50M+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920240" y="252374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Songs in Library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8712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1B+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920240" y="287121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Playlist Creates/mo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94760" y="1005840"/>
            <a:ext cx="5029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3794760" y="1005840"/>
            <a:ext cx="45720" cy="47548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3931920" y="106070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Literature (阅文集团)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931920" y="12618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China's largest online literature platform. 480M+ users, 10M+ works. Owned brands: QQ Reading, 起点中文网, 微信读书. IP licensing for TV, film, and gaming.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138160" y="10607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480M+ users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794760" y="1554480"/>
            <a:ext cx="5029200" cy="47548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3" name="Shape 21"/>
          <p:cNvSpPr/>
          <p:nvPr/>
        </p:nvSpPr>
        <p:spPr>
          <a:xfrm>
            <a:off x="3794760" y="1554480"/>
            <a:ext cx="45720" cy="475488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4" name="Text 22"/>
          <p:cNvSpPr/>
          <p:nvPr/>
        </p:nvSpPr>
        <p:spPr>
          <a:xfrm>
            <a:off x="3931920" y="160934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Tencent News (腾讯新闻)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31920" y="18105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of China's top news aggregators. AI-powered content curation, 2,000+ professional journalists. Competes with Toutiao and Baidu News.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138160" y="16093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CN News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794760" y="2103120"/>
            <a:ext cx="5029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3794760" y="2103120"/>
            <a:ext cx="45720" cy="47548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9" name="Text 27"/>
          <p:cNvSpPr/>
          <p:nvPr/>
        </p:nvSpPr>
        <p:spPr>
          <a:xfrm>
            <a:off x="3931920" y="215798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Streaming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931920" y="23591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Tencent Video Live, Kuaishou (stake), Bilibili (stake). Music streaming, gaming, e-commerce, and social live streaming across multiple platforms.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138160" y="21579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Multi-platform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794760" y="2651760"/>
            <a:ext cx="5029200" cy="47548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3" name="Shape 31"/>
          <p:cNvSpPr/>
          <p:nvPr/>
        </p:nvSpPr>
        <p:spPr>
          <a:xfrm>
            <a:off x="3794760" y="2651760"/>
            <a:ext cx="45720" cy="475488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4" name="Text 32"/>
          <p:cNvSpPr/>
          <p:nvPr/>
        </p:nvSpPr>
        <p:spPr>
          <a:xfrm>
            <a:off x="3931920" y="270662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Tencent Video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931920" y="29077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200M+ MAU. Original content including drama series, movies, and variety shows. Competes with iQIYI and Youku. VIP subscription model with 100M+ subscribers.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138160" y="270662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200M+ MAU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794760" y="3200400"/>
            <a:ext cx="5029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3794760" y="3200400"/>
            <a:ext cx="45720" cy="47548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9" name="Text 37"/>
          <p:cNvSpPr/>
          <p:nvPr/>
        </p:nvSpPr>
        <p:spPr>
          <a:xfrm>
            <a:off x="3931920" y="325526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WeMusic (腾讯音乐)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931920" y="34564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NYSE: TME. QQ Music, Kugou, Kuwo. Dominates China's music streaming with 80%+ market share. Acquired Lazy, a global music rights company.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138160" y="325526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NYSE: TME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43" name="Text 4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&amp; Entertainment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Streaming, Original Content &amp; User-Generated Entertainment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1148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43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Tencent Video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腾讯视频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200M+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103120" y="18288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Active Users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2128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100M+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103120" y="22128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 Subscribers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59689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103120" y="25968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Platform CN (after iQIYI)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98094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1,000+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103120" y="298094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Productions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1005840"/>
            <a:ext cx="42976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0" y="1005840"/>
            <a:ext cx="45720" cy="42062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104241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Drama Series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15200" y="104241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IP holder in Chinese streaming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09160" y="1234440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Longest Day in Chang'an, The Story of Minglan, You Are My Glory, The...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0" y="1481328"/>
            <a:ext cx="4297680" cy="420624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0" y="1481328"/>
            <a:ext cx="45720" cy="42062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151790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Movies &amp; Film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315200" y="15179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CN Box Office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09160" y="1709928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Co-productions with Hollywood and global studios. Distribution for Chine...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0" y="1956816"/>
            <a:ext cx="42976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0" y="1956816"/>
            <a:ext cx="45720" cy="42062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9" name="Text 27"/>
          <p:cNvSpPr/>
          <p:nvPr/>
        </p:nvSpPr>
        <p:spPr>
          <a:xfrm>
            <a:off x="4709160" y="199339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Variety &amp; Reality Shows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315200" y="199339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top-rated shows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09160" y="2185416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Running (奔跑吧), Happy Camp (快乐大本营), Singer (歌手), TME Live concerts...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0" y="2432304"/>
            <a:ext cx="4297680" cy="420624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0" y="2432304"/>
            <a:ext cx="45720" cy="42062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4" name="Text 32"/>
          <p:cNvSpPr/>
          <p:nvPr/>
        </p:nvSpPr>
        <p:spPr>
          <a:xfrm>
            <a:off x="4709160" y="24688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 Content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315200" y="24688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NBA: 800M+ viewers/season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09160" y="2660904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NBA China (exclusive digital partner), NFL, Premier League clips, CN foo...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00" y="2907792"/>
            <a:ext cx="42976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4572000" y="2907792"/>
            <a:ext cx="45720" cy="42062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9" name="Text 37"/>
          <p:cNvSpPr/>
          <p:nvPr/>
        </p:nvSpPr>
        <p:spPr>
          <a:xfrm>
            <a:off x="4709160" y="294436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User-Generated Content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315200" y="294436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10M+ creators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709160" y="3136392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Tencent Video 'Create' platform, WeGame, PengYou (社交游戏), Short video int...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74320" y="4462272"/>
            <a:ext cx="8595360" cy="347472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3" name="Text 41"/>
          <p:cNvSpPr/>
          <p:nvPr/>
        </p:nvSpPr>
        <p:spPr>
          <a:xfrm>
            <a:off x="274320" y="446227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Wars CN: iQIYI #1 (38%) | Tencent Video #2 (28%) | Youku #3 (22%) | Bilibili #4 (12%) — Sources: iResearch 2023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45" name="Text 4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Strategy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Tencent AI Lab, Hunyuan Foundation Model &amp; AI-Driven Products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16052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416052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143000"/>
            <a:ext cx="1005840" cy="237744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4300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Shenzhen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Tencent AI Lab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17556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 Computer Vision, NLP, Reinforcement Learning, Robotics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0299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Tencent AI Lab Charlie (Go AI), AI-driven content curation for WeChat/QQ, automated journalism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05840"/>
            <a:ext cx="4160520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4" name="Shape 12"/>
          <p:cNvSpPr/>
          <p:nvPr/>
        </p:nvSpPr>
        <p:spPr>
          <a:xfrm>
            <a:off x="4800600" y="1143000"/>
            <a:ext cx="1005840" cy="237744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14300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Shenzhen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00600" y="1463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Tencent AI Lab Healthcare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00600" y="17556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 Medical Imaging AI, Drug Discovery, Clinical Decision Support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00600" y="20299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CT/MRI diagnosis, AI for Tencent Healthcare platform, Miying (觅影) medical AI system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697480"/>
            <a:ext cx="416052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697480"/>
            <a:ext cx="416052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2834640"/>
            <a:ext cx="1005840" cy="237744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83464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Tencent Cloud AI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34472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 Enterprise AI, OCR, Speech Recognition, Translation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37216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Tencent Cloud AI services for enterprise customers, Face Recognition, NLU APIs available on cloud marketplace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2697480"/>
            <a:ext cx="416052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697480"/>
            <a:ext cx="4160520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8" name="Shape 26"/>
          <p:cNvSpPr/>
          <p:nvPr/>
        </p:nvSpPr>
        <p:spPr>
          <a:xfrm>
            <a:off x="4800600" y="2834640"/>
            <a:ext cx="1005840" cy="237744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283464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Shenzhen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00600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Hunyuan (混元)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800600" y="34472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 Large Language Model, Multimodal AI, Industry Applications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00600" y="37216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Hunyuan Foundation Model (1T+ parameters), integrated into WeChat, Tencent Cloud, WeCom, and enterprise products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4462272"/>
            <a:ext cx="8503920" cy="347472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" y="446227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AI Products: Hunyuan LLM  |  AI Mini Programs  |  Smart Customer Service  |  Miying Medical AI  |  AI Content Moderation  |  Smart Finance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Investment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800+ Invested Companies | Global Tech Footprint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377440" cy="13716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97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800+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74320" y="1737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34640" y="1005840"/>
            <a:ext cx="60350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834640" y="1005840"/>
            <a:ext cx="45720" cy="47548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2971800" y="10515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Robotics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71800" y="1261872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(seed), MiniMax, Zhidian Cloud, Youibot, CloudMinds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834640" y="1536192"/>
            <a:ext cx="6035040" cy="47548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3" name="Shape 11"/>
          <p:cNvSpPr/>
          <p:nvPr/>
        </p:nvSpPr>
        <p:spPr>
          <a:xfrm>
            <a:off x="2834640" y="1536192"/>
            <a:ext cx="45720" cy="475488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4" name="Text 12"/>
          <p:cNvSpPr/>
          <p:nvPr/>
        </p:nvSpPr>
        <p:spPr>
          <a:xfrm>
            <a:off x="2971800" y="15819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&amp; Infrastructure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71800" y="179222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 (IPO), Scale Infrastructure, Cloudflare (minor)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834640" y="2066544"/>
            <a:ext cx="60350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2834640" y="2066544"/>
            <a:ext cx="45720" cy="47548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2971800" y="21122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Data &amp; Analytics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71800" y="2322576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Palantir (minor), Sensetime, Yitu Tech, Mininglamp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834640" y="2596896"/>
            <a:ext cx="6035040" cy="47548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1" name="Shape 19"/>
          <p:cNvSpPr/>
          <p:nvPr/>
        </p:nvSpPr>
        <p:spPr>
          <a:xfrm>
            <a:off x="2834640" y="2596896"/>
            <a:ext cx="45720" cy="475488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2" name="Text 20"/>
          <p:cNvSpPr/>
          <p:nvPr/>
        </p:nvSpPr>
        <p:spPr>
          <a:xfrm>
            <a:off x="2971800" y="26426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Privacy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71800" y="2852928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SentinelOne, Carbon Black, Threatbook, DBAPP Security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154680"/>
            <a:ext cx="8595360" cy="347472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315468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M&amp;A &amp; Minority Stakes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74320" y="3584448"/>
            <a:ext cx="20574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584448"/>
            <a:ext cx="45720" cy="6400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" y="36576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Riot Games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4048" y="389534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| Gaming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84048" y="405993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2011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450592" y="3584448"/>
            <a:ext cx="20574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450592" y="3584448"/>
            <a:ext cx="45720" cy="64008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3" name="Text 31"/>
          <p:cNvSpPr/>
          <p:nvPr/>
        </p:nvSpPr>
        <p:spPr>
          <a:xfrm>
            <a:off x="2560320" y="36576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Supercell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560320" y="389534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| Gaming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560320" y="405993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626864" y="3584448"/>
            <a:ext cx="20574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26864" y="3584448"/>
            <a:ext cx="45720" cy="6400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8" name="Text 36"/>
          <p:cNvSpPr/>
          <p:nvPr/>
        </p:nvSpPr>
        <p:spPr>
          <a:xfrm>
            <a:off x="4736592" y="36576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Epic Games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36592" y="389534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| Gaming/Tech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736592" y="405993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803136" y="3584448"/>
            <a:ext cx="20574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803136" y="3584448"/>
            <a:ext cx="45720" cy="64008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43" name="Text 41"/>
          <p:cNvSpPr/>
          <p:nvPr/>
        </p:nvSpPr>
        <p:spPr>
          <a:xfrm>
            <a:off x="6912864" y="36576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Tesla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912864" y="389534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 | EV/Tech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912864" y="405993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74320" y="4315968"/>
            <a:ext cx="20574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74320" y="4315968"/>
            <a:ext cx="45720" cy="6400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8" name="Text 46"/>
          <p:cNvSpPr/>
          <p:nvPr/>
        </p:nvSpPr>
        <p:spPr>
          <a:xfrm>
            <a:off x="384048" y="43891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84048" y="462686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 | Music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84048" y="479145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450592" y="4315968"/>
            <a:ext cx="20574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2450592" y="4315968"/>
            <a:ext cx="45720" cy="64008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53" name="Text 51"/>
          <p:cNvSpPr/>
          <p:nvPr/>
        </p:nvSpPr>
        <p:spPr>
          <a:xfrm>
            <a:off x="2560320" y="43891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Bilibili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2560320" y="462686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 | Video/Streaming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2560320" y="479145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626864" y="4315968"/>
            <a:ext cx="20574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626864" y="4315968"/>
            <a:ext cx="45720" cy="6400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8" name="Text 56"/>
          <p:cNvSpPr/>
          <p:nvPr/>
        </p:nvSpPr>
        <p:spPr>
          <a:xfrm>
            <a:off x="4736592" y="43891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Kuaishou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736592" y="462686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 | Short Video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736592" y="479145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803136" y="4315968"/>
            <a:ext cx="20574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803136" y="4315968"/>
            <a:ext cx="45720" cy="64008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63" name="Text 61"/>
          <p:cNvSpPr/>
          <p:nvPr/>
        </p:nvSpPr>
        <p:spPr>
          <a:xfrm>
            <a:off x="6912864" y="43891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PDD Holdings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912864" y="462686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&lt;1% | E-commerce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6912864" y="479145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67" name="Text 6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Presence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in 30+ Countries | 5 Major International Offices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5029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24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12801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993392" y="1024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993392" y="12801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Overseas Employees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712464" y="1024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12464" y="12801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Intl. Offices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31536" y="1024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800+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31536" y="12801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Invested Companies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150608" y="1024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$20B+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50608" y="12801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Overseas Investment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1627632"/>
            <a:ext cx="2743200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1627632"/>
            <a:ext cx="27432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173736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States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4048" y="2011680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Riot Games HQ (Los Angeles) | Lightspeed &amp; Quantum (LA) | Epic Games (40% stake) | Tesla investment (5%) | Spotify stake (7%) | Office: Silicon Valley, Seattle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0" y="1627632"/>
            <a:ext cx="2743200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1627632"/>
            <a:ext cx="2743200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2" name="Text 20"/>
          <p:cNvSpPr/>
          <p:nvPr/>
        </p:nvSpPr>
        <p:spPr>
          <a:xfrm>
            <a:off x="3310128" y="173736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10128" y="2011680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Supercell HQ (Helsinki, 70%) | Miniclip (UK, 100%) | Funcom (Norway, 100%) |  Ubisoft (minority stake) | Flagship European offices: London, Berlin, Paris | Research labs in UK &amp; Netherlands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26480" y="1627632"/>
            <a:ext cx="2743200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1627632"/>
            <a:ext cx="27432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6" name="Text 24"/>
          <p:cNvSpPr/>
          <p:nvPr/>
        </p:nvSpPr>
        <p:spPr>
          <a:xfrm>
            <a:off x="6236208" y="173736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Southeast Asia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36208" y="2011680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 Limited (Garena, 25%+) | VNG Corporation (Vietnam) | Appota (Indonesia) | Regional HQ: Singapore | Mobile Legends (Moonton) | Gaming publishing in TH/PH/VN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044952"/>
            <a:ext cx="2743200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044952"/>
            <a:ext cx="2743200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0" name="Text 28"/>
          <p:cNvSpPr/>
          <p:nvPr/>
        </p:nvSpPr>
        <p:spPr>
          <a:xfrm>
            <a:off x="384048" y="315468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&amp; South Asia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84048" y="3429000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Flipkart investment (minority) | PolicyBazaar (minority) | Upstox (fintech) | Dream11 (fantasy sports) | Gaana (music streaming) | Hindustan Times (media, minority)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0" y="3044952"/>
            <a:ext cx="2743200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0" y="3044952"/>
            <a:ext cx="27432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4" name="Text 32"/>
          <p:cNvSpPr/>
          <p:nvPr/>
        </p:nvSpPr>
        <p:spPr>
          <a:xfrm>
            <a:off x="3310128" y="315468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Korea &amp; Japan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310128" y="3429000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 Entertainment (5%) | YG Entertainment (minority) | Nexon investment (gaming) | Cygames relationship | Kakao investment (messaging) | Publishing: Honor of Kings JP/KR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26480" y="3044952"/>
            <a:ext cx="2743200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26480" y="3044952"/>
            <a:ext cx="2743200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8" name="Text 36"/>
          <p:cNvSpPr/>
          <p:nvPr/>
        </p:nvSpPr>
        <p:spPr>
          <a:xfrm>
            <a:off x="6236208" y="315468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Latin America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236208" y="3429000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Stone (Brazil, fintech, minority) | Rappi (Colombia, delivery) | Kavak (Mexico, used cars) | Musical.ly investment history | Game publishing expansion | WeChat Pay cross-border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41" name="Text 3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International Investments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Stakes in Global Technology &amp; Entertainment Leaders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8503920" cy="29260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87552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WHOLLY-OWNED SUBSIDIARIES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4160520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71600"/>
            <a:ext cx="73152" cy="111556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" y="14447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Riot Games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" y="170078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Angeles, USA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4632" y="188366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World's leading game developer. League of Legends, Valorant, Teamfight Tactics. 4,500+ employees globally. Pioneer of esports with League of Legends World Championship ($15M+ prize pool).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84632" y="22585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$1.8B+ revenue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4160520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371600"/>
            <a:ext cx="73152" cy="1115568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5" name="Text 13"/>
          <p:cNvSpPr/>
          <p:nvPr/>
        </p:nvSpPr>
        <p:spPr>
          <a:xfrm>
            <a:off x="4828032" y="14447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Supercell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28032" y="170078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Helsinki, Finland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28032" y="188366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gaming pioneer. Clash of Clans, Brawl Stars, Clash Royale. Operates with autonomous studio culture. Tencent acquired 70% in 2016 for $8.6B. Fully consolidated.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28032" y="22585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$2.2B+ revenue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606040"/>
            <a:ext cx="4160520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606040"/>
            <a:ext cx="73152" cy="111556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" y="26791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Miniclip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" y="293522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London, UK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" y="311810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of the world's largest web and mobile game developers. 8 Ball Pool, Subway Surfers (partner). 25M+ daily active users across 196 countries.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4632" y="34930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mobile dev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2606040"/>
            <a:ext cx="4160520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606040"/>
            <a:ext cx="73152" cy="1115568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7" name="Text 25"/>
          <p:cNvSpPr/>
          <p:nvPr/>
        </p:nvSpPr>
        <p:spPr>
          <a:xfrm>
            <a:off x="4828032" y="26791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Funcom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28032" y="293522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Oslo, Norway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28032" y="311810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AAA game developer specializing in open-world games. Conan Exiles, Dune: Awakening, Metal: Hellsinger. Wholly owned since 2022.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28032" y="34930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$100M+ revenue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3858768"/>
            <a:ext cx="8503920" cy="292608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2" name="Text 30"/>
          <p:cNvSpPr/>
          <p:nvPr/>
        </p:nvSpPr>
        <p:spPr>
          <a:xfrm>
            <a:off x="320040" y="385876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MINORITY &amp; STRATEGIC STAKES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4224528"/>
            <a:ext cx="13258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4224528"/>
            <a:ext cx="132588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5" name="Text 33"/>
          <p:cNvSpPr/>
          <p:nvPr/>
        </p:nvSpPr>
        <p:spPr>
          <a:xfrm>
            <a:off x="320040" y="431596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Epic Games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0040" y="451713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0040" y="4681728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737360" y="4224528"/>
            <a:ext cx="13258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0" y="4224528"/>
            <a:ext cx="1325880" cy="36576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40" name="Text 38"/>
          <p:cNvSpPr/>
          <p:nvPr/>
        </p:nvSpPr>
        <p:spPr>
          <a:xfrm>
            <a:off x="1737360" y="431596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Tesla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737360" y="451713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~5%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737360" y="4681728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154680" y="4224528"/>
            <a:ext cx="13258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154680" y="4224528"/>
            <a:ext cx="132588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5" name="Text 43"/>
          <p:cNvSpPr/>
          <p:nvPr/>
        </p:nvSpPr>
        <p:spPr>
          <a:xfrm>
            <a:off x="3154680" y="431596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154680" y="451713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~7%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154680" y="4681728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Sweden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572000" y="4224528"/>
            <a:ext cx="13258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72000" y="4224528"/>
            <a:ext cx="1325880" cy="36576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50" name="Text 48"/>
          <p:cNvSpPr/>
          <p:nvPr/>
        </p:nvSpPr>
        <p:spPr>
          <a:xfrm>
            <a:off x="4572000" y="431596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 Limited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572000" y="451713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25%+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572000" y="4681728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SG/SEA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989320" y="4224528"/>
            <a:ext cx="13258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989320" y="4224528"/>
            <a:ext cx="132588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5" name="Text 53"/>
          <p:cNvSpPr/>
          <p:nvPr/>
        </p:nvSpPr>
        <p:spPr>
          <a:xfrm>
            <a:off x="5989320" y="431596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Bilibili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989320" y="451713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989320" y="4681728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7406640" y="4224528"/>
            <a:ext cx="13258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406640" y="4224528"/>
            <a:ext cx="1325880" cy="36576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60" name="Text 58"/>
          <p:cNvSpPr/>
          <p:nvPr/>
        </p:nvSpPr>
        <p:spPr>
          <a:xfrm>
            <a:off x="7406640" y="431596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Ubisoft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406640" y="451713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&lt;10%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7406640" y="4681728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France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64" name="Text 6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Performance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FY2023 Annual Results | Hong Kong Stock Exchange: SEHK 00700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2057400" cy="12344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5156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$90B+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6642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987552"/>
            <a:ext cx="2057400" cy="12344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105156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$25B+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68880" y="16642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Profit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192024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987552"/>
            <a:ext cx="2057400" cy="12344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105156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63440" y="16642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YoY Revenue Growth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192024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FY2022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0" y="987552"/>
            <a:ext cx="2057400" cy="12344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105156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$500B+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58000" y="16642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Cap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0" y="192024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SEHK 00700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377440"/>
            <a:ext cx="530352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377440"/>
            <a:ext cx="530352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24688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Segment (FY2023)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" y="2788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Value-Added Services (VAS)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749040" y="27889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0" y="27889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$45B+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11480" y="30632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Social (WeChat, QQ, etc.)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749040" y="30632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~15%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0" y="3063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$13.5B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11480" y="33375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Gaming (incl. TiMi, Riot)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749040" y="33375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~35%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0" y="33375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$31.5B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11480" y="36118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Fintech &amp; Business Services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749040" y="36118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0" y="36118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$31.5B+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11480" y="38862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WeChat Pay, TenPay, WeBank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749040" y="3886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of above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11480" y="41605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Advertising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749040" y="4160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0" y="4160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$18B+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11480" y="44348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&amp; Other Services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749040" y="44348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572000" y="44348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$9B+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760720" y="2377440"/>
            <a:ext cx="310896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760720" y="2377440"/>
            <a:ext cx="3108960" cy="4572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46" name="Text 44"/>
          <p:cNvSpPr/>
          <p:nvPr/>
        </p:nvSpPr>
        <p:spPr>
          <a:xfrm>
            <a:off x="5897880" y="24688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Highlights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897880" y="27889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Gaming revenue recovery: +5% YoY in H2 2023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897880" y="30175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Fintech growth sustained: +15% YoY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897880" y="32461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margin improvement: positive contribution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897880" y="34747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revenue: 25% of total revenue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897880" y="37033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 investment: $10B+ annually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897880" y="39319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cash flow: $30B+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897880" y="41605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Dividend per share: HKD 3.80 (FY2023)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897880" y="43891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Stock: SEHK 00700, ADR: TCEHY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56" name="Text 5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ESG &amp; Sustainability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Committed to Carbon Neutrality by 2030 | ESG Leadership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41148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87552"/>
            <a:ext cx="41148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(E)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 Neutrality Target: 2030 for Scope 1 &amp; 2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Renewable Energy: 45% achieved (2023)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938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Data Centers: T-block technology, PUE &lt; 1.2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1854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Efficiency: AI-optimized cooling systems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43230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CDP Climate Response: Score B+ (2023)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6791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TCFD Framework: Full adoption since 2021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9260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Building: LEED-certified offices in BJ/SZ/SH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17720" y="987552"/>
            <a:ext cx="42062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987552"/>
            <a:ext cx="4206240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0972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(S)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54880" y="144475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Inclusion: Free Wi-Fi in 30K+ rural areas CN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54880" y="16916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Education: Tencent Foundation donations $500M+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0" y="193852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Rural Revitalization: 100M+ RMB invested annually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54880" y="218541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Disability Inclusion: Accessibility in WeChat/QQ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54880" y="243230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Safety: AI content moderation, anti-fraud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267919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Employee: 100K+ global staff, DEI initiatives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54880" y="29260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Tencent Charity Fund: $3B+ raised for public welfare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273552"/>
            <a:ext cx="85039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273552"/>
            <a:ext cx="8503920" cy="54864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3832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(G) &amp; ESG Ratings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" y="37033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MSCI ESG Rating: A (2023) | DJSI: Included 3 consecutive years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09160" y="37033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Diversity: 40%+ independent directors, 30%+ female board members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397764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Privacy: GDPR-compliant EU operations, CCPA-compliant US operations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09160" y="397764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Anti-Corruption: Zero-tolerance policy, ISO 37001 certified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425196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Chain: Responsible Gaming, supplier code of conduct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09160" y="425196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Relations: Transparent reporting, quarterly earnings calls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9070848" y="0"/>
            <a:ext cx="73152" cy="22860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Tencent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People, Services,</a:t>
            </a:r>
            <a:endParaRPr lang="en-US" sz="3000" dirty="0"/>
          </a:p>
          <a:p>
            <a:pPr algn="l" indent="0" marL="0">
              <a:buNone/>
            </a:pPr>
            <a:r>
              <a:rPr lang="en-US" sz="30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Systems Worldwide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2743200" cy="0"/>
          </a:xfrm>
          <a:prstGeom prst="line">
            <a:avLst/>
          </a:prstGeom>
          <a:noFill/>
          <a:ln w="25400">
            <a:solidFill>
              <a:srgbClr val="EF23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46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for Good. Innovation for All.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1.3B+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41330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WeChat Users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06040" y="3749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$90B+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06040" y="41330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Revenue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3749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54880" y="41330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03720" y="3749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100K+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903720" y="41330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www.tencent.com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45720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SEHK: 00700  |  TCEHY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Tencent Holdings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Tencent Holdings Ltd. — Company Introduction</dc:title>
  <dc:subject>Comprehensive Company Introduction</dc:subject>
  <dc:creator>Tencent IR</dc:creator>
  <cp:lastModifiedBy>Tencent IR</cp:lastModifiedBy>
  <cp:revision>1</cp:revision>
  <dcterms:created xsi:type="dcterms:W3CDTF">2026-03-25T03:16:37Z</dcterms:created>
  <dcterms:modified xsi:type="dcterms:W3CDTF">2026-03-25T03:16:37Z</dcterms:modified>
</cp:coreProperties>
</file>